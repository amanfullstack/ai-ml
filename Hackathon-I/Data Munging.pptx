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gyDqqvC3gHMRpNYL85HR68By80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8" name="Google Shape;10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/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" type="subTitle"/>
          </p:nvPr>
        </p:nvSpPr>
        <p:spPr>
          <a:xfrm>
            <a:off x="2961564" y="3777016"/>
            <a:ext cx="6373505" cy="958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>
                <a:solidFill>
                  <a:srgbClr val="3F3F3F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11546006" y="6492875"/>
            <a:ext cx="6459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7" name="Google Shape;17;p9"/>
          <p:cNvCxnSpPr/>
          <p:nvPr/>
        </p:nvCxnSpPr>
        <p:spPr>
          <a:xfrm>
            <a:off x="9279031" y="4235851"/>
            <a:ext cx="865471" cy="0"/>
          </a:xfrm>
          <a:prstGeom prst="straightConnector1">
            <a:avLst/>
          </a:prstGeom>
          <a:noFill/>
          <a:ln cap="flat" cmpd="sng" w="762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9"/>
          <p:cNvCxnSpPr/>
          <p:nvPr/>
        </p:nvCxnSpPr>
        <p:spPr>
          <a:xfrm>
            <a:off x="2035431" y="4211003"/>
            <a:ext cx="865471" cy="0"/>
          </a:xfrm>
          <a:prstGeom prst="straightConnector1">
            <a:avLst/>
          </a:prstGeom>
          <a:noFill/>
          <a:ln cap="flat" cmpd="sng" w="762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" name="Google Shape;19;p9"/>
          <p:cNvGrpSpPr/>
          <p:nvPr/>
        </p:nvGrpSpPr>
        <p:grpSpPr>
          <a:xfrm>
            <a:off x="518606" y="1362700"/>
            <a:ext cx="10986448" cy="494518"/>
            <a:chOff x="1346429" y="1011300"/>
            <a:chExt cx="6452100" cy="152400"/>
          </a:xfrm>
        </p:grpSpPr>
        <p:cxnSp>
          <p:nvCxnSpPr>
            <p:cNvPr id="20" name="Google Shape;20;p9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" name="Google Shape;21;p9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" name="Google Shape;22;p9"/>
          <p:cNvGrpSpPr/>
          <p:nvPr/>
        </p:nvGrpSpPr>
        <p:grpSpPr>
          <a:xfrm>
            <a:off x="518616" y="5292133"/>
            <a:ext cx="10986448" cy="494518"/>
            <a:chOff x="1346435" y="3969088"/>
            <a:chExt cx="6452100" cy="152400"/>
          </a:xfrm>
        </p:grpSpPr>
        <p:cxnSp>
          <p:nvCxnSpPr>
            <p:cNvPr id="23" name="Google Shape;23;p9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" name="Google Shape;24;p9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221525" y="210875"/>
            <a:ext cx="5324475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2" type="sldNum"/>
          </p:nvPr>
        </p:nvSpPr>
        <p:spPr>
          <a:xfrm>
            <a:off x="11582400" y="6492875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" name="Google Shape;30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77613" y="191075"/>
            <a:ext cx="5324475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1"/>
          <p:cNvSpPr txBox="1"/>
          <p:nvPr>
            <p:ph type="title"/>
          </p:nvPr>
        </p:nvSpPr>
        <p:spPr>
          <a:xfrm>
            <a:off x="609600" y="191069"/>
            <a:ext cx="9517039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" type="body"/>
          </p:nvPr>
        </p:nvSpPr>
        <p:spPr>
          <a:xfrm>
            <a:off x="609600" y="1160060"/>
            <a:ext cx="5410200" cy="5322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11"/>
          <p:cNvSpPr txBox="1"/>
          <p:nvPr>
            <p:ph idx="2" type="body"/>
          </p:nvPr>
        </p:nvSpPr>
        <p:spPr>
          <a:xfrm>
            <a:off x="6335973" y="1173707"/>
            <a:ext cx="5410200" cy="5281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11491414" y="6492875"/>
            <a:ext cx="70058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6" name="Google Shape;36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606863" y="191075"/>
            <a:ext cx="5324475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1_Thank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2"/>
          <p:cNvSpPr txBox="1"/>
          <p:nvPr>
            <p:ph idx="12" type="sldNum"/>
          </p:nvPr>
        </p:nvSpPr>
        <p:spPr>
          <a:xfrm>
            <a:off x="11450472" y="6492875"/>
            <a:ext cx="7415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2"/>
          <p:cNvSpPr txBox="1"/>
          <p:nvPr>
            <p:ph idx="1" type="body"/>
          </p:nvPr>
        </p:nvSpPr>
        <p:spPr>
          <a:xfrm>
            <a:off x="2416175" y="2511425"/>
            <a:ext cx="7342188" cy="87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b="1" sz="44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2" type="body"/>
          </p:nvPr>
        </p:nvSpPr>
        <p:spPr>
          <a:xfrm>
            <a:off x="2455863" y="3398838"/>
            <a:ext cx="730228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1" name="Google Shape;4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513250" y="342500"/>
            <a:ext cx="5324475" cy="66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/>
          <p:nvPr>
            <p:ph type="ctrTitle"/>
          </p:nvPr>
        </p:nvSpPr>
        <p:spPr>
          <a:xfrm>
            <a:off x="914400" y="2947916"/>
            <a:ext cx="10363200" cy="12121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" type="subTitle"/>
          </p:nvPr>
        </p:nvSpPr>
        <p:spPr>
          <a:xfrm>
            <a:off x="2961564" y="4336584"/>
            <a:ext cx="6373505" cy="958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3200"/>
              <a:buNone/>
              <a:defRPr>
                <a:solidFill>
                  <a:srgbClr val="3F3F3F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5" name="Google Shape;45;p13"/>
          <p:cNvSpPr txBox="1"/>
          <p:nvPr>
            <p:ph idx="12" type="sldNum"/>
          </p:nvPr>
        </p:nvSpPr>
        <p:spPr>
          <a:xfrm>
            <a:off x="11546006" y="6492875"/>
            <a:ext cx="6459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6" name="Google Shape;46;p13"/>
          <p:cNvCxnSpPr/>
          <p:nvPr/>
        </p:nvCxnSpPr>
        <p:spPr>
          <a:xfrm>
            <a:off x="9279031" y="4795419"/>
            <a:ext cx="865471" cy="0"/>
          </a:xfrm>
          <a:prstGeom prst="straightConnector1">
            <a:avLst/>
          </a:prstGeom>
          <a:noFill/>
          <a:ln cap="flat" cmpd="sng" w="762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" name="Google Shape;47;p13"/>
          <p:cNvCxnSpPr/>
          <p:nvPr/>
        </p:nvCxnSpPr>
        <p:spPr>
          <a:xfrm>
            <a:off x="2035431" y="4770571"/>
            <a:ext cx="865471" cy="0"/>
          </a:xfrm>
          <a:prstGeom prst="straightConnector1">
            <a:avLst/>
          </a:prstGeom>
          <a:noFill/>
          <a:ln cap="flat" cmpd="sng" w="76200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8" name="Google Shape;48;p13"/>
          <p:cNvGrpSpPr/>
          <p:nvPr/>
        </p:nvGrpSpPr>
        <p:grpSpPr>
          <a:xfrm>
            <a:off x="518616" y="5292133"/>
            <a:ext cx="10986448" cy="494518"/>
            <a:chOff x="1346435" y="3969088"/>
            <a:chExt cx="6452100" cy="152400"/>
          </a:xfrm>
        </p:grpSpPr>
        <p:cxnSp>
          <p:nvCxnSpPr>
            <p:cNvPr id="49" name="Google Shape;49;p13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" name="Google Shape;50;p13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rgbClr val="4DB6AC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" type="body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11600596" y="6492875"/>
            <a:ext cx="5914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5" name="Google Shape;5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36867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609600" y="191069"/>
            <a:ext cx="9598925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" type="body"/>
          </p:nvPr>
        </p:nvSpPr>
        <p:spPr>
          <a:xfrm>
            <a:off x="609599" y="1180271"/>
            <a:ext cx="53863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9" name="Google Shape;59;p15"/>
          <p:cNvSpPr txBox="1"/>
          <p:nvPr>
            <p:ph idx="2" type="body"/>
          </p:nvPr>
        </p:nvSpPr>
        <p:spPr>
          <a:xfrm>
            <a:off x="609600" y="1883390"/>
            <a:ext cx="5386388" cy="46265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0" name="Google Shape;60;p15"/>
          <p:cNvSpPr txBox="1"/>
          <p:nvPr>
            <p:ph idx="3" type="body"/>
          </p:nvPr>
        </p:nvSpPr>
        <p:spPr>
          <a:xfrm>
            <a:off x="6192839" y="1166623"/>
            <a:ext cx="5389562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1" sz="2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1" name="Google Shape;61;p15"/>
          <p:cNvSpPr txBox="1"/>
          <p:nvPr>
            <p:ph idx="4" type="body"/>
          </p:nvPr>
        </p:nvSpPr>
        <p:spPr>
          <a:xfrm>
            <a:off x="6192838" y="1842448"/>
            <a:ext cx="5389562" cy="46402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11600596" y="6492875"/>
            <a:ext cx="591403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3" name="Google Shape;63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64163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609600" y="191069"/>
            <a:ext cx="9557982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11464118" y="6492875"/>
            <a:ext cx="72788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7" name="Google Shape;67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36867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11546006" y="6492875"/>
            <a:ext cx="6459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0" name="Google Shape;70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36867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Blank">
  <p:cSld name="1_Blank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11546006" y="6492875"/>
            <a:ext cx="64599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Thank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idx="12" type="sldNum"/>
          </p:nvPr>
        </p:nvSpPr>
        <p:spPr>
          <a:xfrm>
            <a:off x="11450472" y="6492875"/>
            <a:ext cx="74152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2416175" y="2511425"/>
            <a:ext cx="7342188" cy="87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  <a:defRPr b="1" sz="44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2" type="body"/>
          </p:nvPr>
        </p:nvSpPr>
        <p:spPr>
          <a:xfrm>
            <a:off x="2455863" y="3398838"/>
            <a:ext cx="730228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7" name="Google Shape;77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36867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81" name="Google Shape;81;p20"/>
          <p:cNvSpPr txBox="1"/>
          <p:nvPr>
            <p:ph idx="2" type="body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82" name="Google Shape;82;p20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20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20"/>
          <p:cNvSpPr txBox="1"/>
          <p:nvPr>
            <p:ph idx="12" type="sldNum"/>
          </p:nvPr>
        </p:nvSpPr>
        <p:spPr>
          <a:xfrm>
            <a:off x="11586948" y="6492875"/>
            <a:ext cx="60505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5" name="Google Shape;85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36867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 txBox="1"/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1"/>
          <p:cNvSpPr/>
          <p:nvPr>
            <p:ph idx="2" type="pic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89" name="Google Shape;89;p21"/>
          <p:cNvSpPr txBox="1"/>
          <p:nvPr>
            <p:ph idx="1" type="body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90" name="Google Shape;90;p21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11586948" y="6492875"/>
            <a:ext cx="60505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36867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/>
          <p:nvPr>
            <p:ph type="title"/>
          </p:nvPr>
        </p:nvSpPr>
        <p:spPr>
          <a:xfrm>
            <a:off x="609600" y="191069"/>
            <a:ext cx="9598925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 rot="5400000">
            <a:off x="3393744" y="-1624084"/>
            <a:ext cx="540451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10" type="dt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22"/>
          <p:cNvSpPr txBox="1"/>
          <p:nvPr>
            <p:ph idx="11" type="ftr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22"/>
          <p:cNvSpPr txBox="1"/>
          <p:nvPr>
            <p:ph idx="12" type="sldNum"/>
          </p:nvPr>
        </p:nvSpPr>
        <p:spPr>
          <a:xfrm>
            <a:off x="11586948" y="6492875"/>
            <a:ext cx="60505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0" name="Google Shape;100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36867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>
  <p:cSld name="標題及物件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 txBox="1"/>
          <p:nvPr>
            <p:ph idx="1" type="body"/>
          </p:nvPr>
        </p:nvSpPr>
        <p:spPr>
          <a:xfrm>
            <a:off x="609600" y="1105469"/>
            <a:ext cx="10972800" cy="53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810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810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23"/>
          <p:cNvSpPr txBox="1"/>
          <p:nvPr>
            <p:ph idx="12" type="sldNum"/>
          </p:nvPr>
        </p:nvSpPr>
        <p:spPr>
          <a:xfrm>
            <a:off x="11461709" y="6425015"/>
            <a:ext cx="730291" cy="4329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4" name="Google Shape;104;p23"/>
          <p:cNvSpPr txBox="1"/>
          <p:nvPr>
            <p:ph type="title"/>
          </p:nvPr>
        </p:nvSpPr>
        <p:spPr>
          <a:xfrm>
            <a:off x="609600" y="191069"/>
            <a:ext cx="9612573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5" name="Google Shape;105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920667" y="136867"/>
            <a:ext cx="2128800" cy="6767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09600" y="191069"/>
            <a:ext cx="9598925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  <a:defRPr b="1" i="0" sz="36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09600" y="1160059"/>
            <a:ext cx="10972800" cy="54045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2" type="sldNum"/>
          </p:nvPr>
        </p:nvSpPr>
        <p:spPr>
          <a:xfrm>
            <a:off x="11586948" y="6492875"/>
            <a:ext cx="60505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"/>
          <p:cNvSpPr txBox="1"/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/>
              <a:t>Data Munging</a:t>
            </a:r>
            <a:endParaRPr/>
          </a:p>
        </p:txBody>
      </p:sp>
      <p:sp>
        <p:nvSpPr>
          <p:cNvPr id="111" name="Google Shape;111;p1"/>
          <p:cNvSpPr txBox="1"/>
          <p:nvPr>
            <p:ph idx="1" type="subTitle"/>
          </p:nvPr>
        </p:nvSpPr>
        <p:spPr>
          <a:xfrm>
            <a:off x="2961564" y="3777016"/>
            <a:ext cx="6373505" cy="9587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800"/>
              <a:buNone/>
            </a:pPr>
            <a:r>
              <a:rPr b="1" lang="en-US" sz="2800"/>
              <a:t>Mini Hackathon : 20 Marks</a:t>
            </a:r>
            <a:endParaRPr/>
          </a:p>
        </p:txBody>
      </p:sp>
      <p:pic>
        <p:nvPicPr>
          <p:cNvPr id="112" name="Google Shape;112;p1" title="IIIT_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7675" y="0"/>
            <a:ext cx="4610601" cy="123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/>
          <p:nvPr>
            <p:ph type="title"/>
          </p:nvPr>
        </p:nvSpPr>
        <p:spPr>
          <a:xfrm>
            <a:off x="609600" y="191075"/>
            <a:ext cx="5907000" cy="8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Calibri"/>
              <a:buNone/>
            </a:pPr>
            <a:r>
              <a:rPr lang="en-US"/>
              <a:t>Learning Objectives</a:t>
            </a:r>
            <a:endParaRPr/>
          </a:p>
        </p:txBody>
      </p:sp>
      <p:sp>
        <p:nvSpPr>
          <p:cNvPr id="118" name="Google Shape;118;p3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b="0" i="0" lang="en-US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Perform Data pre-processing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Data preprocessing is an important step in solving every machine learning problem.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Font typeface="Arial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4318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200"/>
              <a:buFont typeface="Arial"/>
              <a:buChar char="•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Most of the datasets used with Machine Learning problems need to be processed / cleaned / transformed so that a Machine Learning algorithm can be trained on it.</a:t>
            </a:r>
            <a:endParaRPr/>
          </a:p>
        </p:txBody>
      </p:sp>
      <p:pic>
        <p:nvPicPr>
          <p:cNvPr id="119" name="Google Shape;119;p3" title="IIIT_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7675" y="0"/>
            <a:ext cx="4994724" cy="136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609600" y="191069"/>
            <a:ext cx="9517039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25" name="Google Shape;125;p24"/>
          <p:cNvSpPr txBox="1"/>
          <p:nvPr>
            <p:ph idx="2" type="body"/>
          </p:nvPr>
        </p:nvSpPr>
        <p:spPr>
          <a:xfrm>
            <a:off x="6335973" y="1173707"/>
            <a:ext cx="5410200" cy="52816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064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We will be using district wise: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–"/>
            </a:pPr>
            <a:r>
              <a:rPr b="0" i="0" lang="en-US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Demographics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–"/>
            </a:pPr>
            <a:r>
              <a:rPr b="0" i="0" lang="en-US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Enrollments</a:t>
            </a:r>
            <a:endParaRPr/>
          </a:p>
          <a:p>
            <a:pPr indent="-381000" lvl="1" marL="9144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Char char="–"/>
            </a:pPr>
            <a:r>
              <a:rPr b="0" i="0" lang="en-US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Teacher indicator data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0" i="0">
              <a:solidFill>
                <a:srgbClr val="21212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064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0" i="0" lang="en-US">
                <a:solidFill>
                  <a:srgbClr val="212121"/>
                </a:solidFill>
                <a:latin typeface="Calibri"/>
                <a:ea typeface="Calibri"/>
                <a:cs typeface="Calibri"/>
                <a:sym typeface="Calibri"/>
              </a:rPr>
              <a:t>Predict whether the literacy rate is high/medium/low in each district using the district wise data 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6" name="Google Shape;12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401" y="2552960"/>
            <a:ext cx="5170598" cy="253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609600" y="1160060"/>
            <a:ext cx="5410200" cy="53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28" name="Google Shape;128;p24" title="IIIT_H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7675" y="0"/>
            <a:ext cx="4610601" cy="1236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4" title="IIIT_H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7675" y="0"/>
            <a:ext cx="4994724" cy="123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5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n-US"/>
              <a:t>Dataset</a:t>
            </a:r>
            <a:endParaRPr/>
          </a:p>
        </p:txBody>
      </p:sp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8106"/>
              <a:buChar char="•"/>
            </a:pPr>
            <a:r>
              <a:rPr b="1" lang="en-US"/>
              <a:t>Districtwise_basicdata.csv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Char char="–"/>
            </a:pPr>
            <a:r>
              <a:rPr lang="en-US"/>
              <a:t>Year, state name, district name, total no. of schools, total population, female literacy rate, etc…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Char char="–"/>
            </a:pPr>
            <a:r>
              <a:rPr b="1" i="1" lang="en-US">
                <a:solidFill>
                  <a:srgbClr val="00B050"/>
                </a:solidFill>
              </a:rPr>
              <a:t>Overall literacy rate (target column)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8106"/>
              <a:buNone/>
            </a:pPr>
            <a:r>
              <a:t/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8106"/>
              <a:buChar char="•"/>
            </a:pPr>
            <a:r>
              <a:rPr b="1" lang="en-US"/>
              <a:t>Districtwise_enrollment_details_indicator.csv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Char char="–"/>
            </a:pPr>
            <a:r>
              <a:rPr lang="en-US"/>
              <a:t>Total enrolments in government, private schools, rural enrolments in government schools, etc..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8106"/>
              <a:buNone/>
            </a:pPr>
            <a:r>
              <a:t/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08106"/>
              <a:buChar char="•"/>
            </a:pPr>
            <a:r>
              <a:rPr b="1" lang="en-US"/>
              <a:t>Districtwise_teacher_indicator.csv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Char char="–"/>
            </a:pPr>
            <a:r>
              <a:rPr lang="en-US"/>
              <a:t>Teachers in government, private schools; Teachers in un-recognized schools; Position of teachers by educational qualification like graduate, post-graduate, ph.D, etc…</a:t>
            </a:r>
            <a:endParaRPr/>
          </a:p>
        </p:txBody>
      </p:sp>
      <p:pic>
        <p:nvPicPr>
          <p:cNvPr id="136" name="Google Shape;136;p25" title="IIIT_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7675" y="0"/>
            <a:ext cx="4994724" cy="136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n-US"/>
              <a:t>Dataset Allocation for Teams</a:t>
            </a:r>
            <a:endParaRPr/>
          </a:p>
        </p:txBody>
      </p:sp>
      <p:sp>
        <p:nvSpPr>
          <p:cNvPr id="142" name="Google Shape;142;p26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Team A</a:t>
            </a:r>
            <a:r>
              <a:rPr lang="en-US"/>
              <a:t> = Group 1,3,5,7,9,11,13,15,17,19,21,23,25,27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Districtwise_Basicdata.csv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Districtwise_Enrollment_details_indicator.csv</a:t>
            </a:r>
            <a:endParaRPr/>
          </a:p>
          <a:p>
            <a:pPr indent="-228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Team B</a:t>
            </a:r>
            <a:r>
              <a:rPr lang="en-US"/>
              <a:t> = Group 2,4,6,8,10,12,14,16,18,20,22,24,26,28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Districtwise_Basicdata.csv</a:t>
            </a:r>
            <a:endParaRPr/>
          </a:p>
          <a:p>
            <a:pPr indent="-4064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–"/>
            </a:pPr>
            <a:r>
              <a:rPr lang="en-US"/>
              <a:t>Districtwise_Teacher_indicator.csv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43" name="Google Shape;143;p26" title="IIIT_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7675" y="0"/>
            <a:ext cx="4994724" cy="127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n-US"/>
              <a:t>Tasks</a:t>
            </a:r>
            <a:endParaRPr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609600" y="1160060"/>
            <a:ext cx="10972800" cy="53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92471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9032"/>
              <a:buChar char="•"/>
            </a:pPr>
            <a:r>
              <a:rPr b="1" lang="en-US"/>
              <a:t>Stage 1: </a:t>
            </a:r>
            <a:r>
              <a:rPr lang="en-US"/>
              <a:t>Load and Explore the Data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9032"/>
              <a:buNone/>
            </a:pPr>
            <a:r>
              <a:t/>
            </a:r>
            <a:endParaRPr/>
          </a:p>
          <a:p>
            <a:pPr indent="-392471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9032"/>
              <a:buChar char="•"/>
            </a:pPr>
            <a:r>
              <a:rPr b="1" lang="en-US"/>
              <a:t>Stage 2: </a:t>
            </a:r>
            <a:r>
              <a:rPr lang="en-US"/>
              <a:t>Data Integration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9032"/>
              <a:buNone/>
            </a:pPr>
            <a:r>
              <a:t/>
            </a:r>
            <a:endParaRPr b="1"/>
          </a:p>
          <a:p>
            <a:pPr indent="-392471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9032"/>
              <a:buChar char="•"/>
            </a:pPr>
            <a:r>
              <a:rPr b="1" lang="en-US"/>
              <a:t>Stage 3:</a:t>
            </a:r>
            <a:r>
              <a:rPr lang="en-US"/>
              <a:t> Data Cleaning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9032"/>
              <a:buNone/>
            </a:pPr>
            <a:r>
              <a:t/>
            </a:r>
            <a:endParaRPr b="1"/>
          </a:p>
          <a:p>
            <a:pPr indent="-392471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9032"/>
              <a:buChar char="•"/>
            </a:pPr>
            <a:r>
              <a:rPr b="1" lang="en-US"/>
              <a:t>Stage 4: </a:t>
            </a:r>
            <a:r>
              <a:rPr lang="en-US"/>
              <a:t>Drop unnecessary columns/duplicate columns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9032"/>
              <a:buNone/>
            </a:pPr>
            <a:r>
              <a:t/>
            </a:r>
            <a:endParaRPr b="1"/>
          </a:p>
          <a:p>
            <a:pPr indent="-392471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9032"/>
              <a:buChar char="•"/>
            </a:pPr>
            <a:r>
              <a:rPr b="1" lang="en-US"/>
              <a:t>Stage 5:</a:t>
            </a:r>
            <a:r>
              <a:rPr lang="en-US"/>
              <a:t> Apply Correlation Matrix and remove highly correlated features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9032"/>
              <a:buNone/>
            </a:pPr>
            <a:r>
              <a:t/>
            </a:r>
            <a:endParaRPr b="1"/>
          </a:p>
          <a:p>
            <a:pPr indent="-392471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9032"/>
              <a:buChar char="•"/>
            </a:pPr>
            <a:r>
              <a:rPr b="1" lang="en-US"/>
              <a:t>Stage 6:</a:t>
            </a:r>
            <a:r>
              <a:rPr lang="en-US"/>
              <a:t> Normalizing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9032"/>
              <a:buNone/>
            </a:pPr>
            <a:r>
              <a:t/>
            </a:r>
            <a:endParaRPr b="1"/>
          </a:p>
          <a:p>
            <a:pPr indent="-392471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ct val="129032"/>
              <a:buChar char="•"/>
            </a:pPr>
            <a:r>
              <a:rPr b="1" lang="en-US"/>
              <a:t>Stage 7:</a:t>
            </a:r>
            <a:r>
              <a:rPr lang="en-US"/>
              <a:t> Train the model</a:t>
            </a:r>
            <a:endParaRPr/>
          </a:p>
          <a:p>
            <a:pPr indent="-371986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9032"/>
              <a:buChar char="–"/>
            </a:pPr>
            <a:r>
              <a:rPr lang="en-US"/>
              <a:t>Expected Accuracy is above 90%</a:t>
            </a:r>
            <a:endParaRPr/>
          </a:p>
        </p:txBody>
      </p:sp>
      <p:pic>
        <p:nvPicPr>
          <p:cNvPr id="150" name="Google Shape;150;p27" title="IIIT_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7675" y="0"/>
            <a:ext cx="4994724" cy="136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 txBox="1"/>
          <p:nvPr>
            <p:ph type="title"/>
          </p:nvPr>
        </p:nvSpPr>
        <p:spPr>
          <a:xfrm>
            <a:off x="609600" y="191069"/>
            <a:ext cx="9544334" cy="8461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</a:pPr>
            <a:r>
              <a:rPr lang="en-US"/>
              <a:t>Evaluation &amp; Scores</a:t>
            </a:r>
            <a:endParaRPr/>
          </a:p>
        </p:txBody>
      </p:sp>
      <p:sp>
        <p:nvSpPr>
          <p:cNvPr id="156" name="Google Shape;156;p28"/>
          <p:cNvSpPr txBox="1"/>
          <p:nvPr>
            <p:ph idx="1" type="body"/>
          </p:nvPr>
        </p:nvSpPr>
        <p:spPr>
          <a:xfrm>
            <a:off x="609600" y="1160060"/>
            <a:ext cx="10972800" cy="53499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318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hackathon will take place on June 06 &amp; 07, 2026 - Saturday &amp; Sunday (09:00 AM - 6:00 PM)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Evaluation starts from Saturday@ 4 PM</a:t>
            </a:r>
            <a:endParaRPr/>
          </a:p>
          <a:p>
            <a:pPr indent="-2286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431800" lvl="0" marL="4572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Scores – 20 Marks</a:t>
            </a:r>
            <a:endParaRPr/>
          </a:p>
        </p:txBody>
      </p:sp>
      <p:pic>
        <p:nvPicPr>
          <p:cNvPr id="157" name="Google Shape;157;p28" title="IIIT_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7675" y="0"/>
            <a:ext cx="4994724" cy="1305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 txBox="1"/>
          <p:nvPr>
            <p:ph idx="1" type="body"/>
          </p:nvPr>
        </p:nvSpPr>
        <p:spPr>
          <a:xfrm>
            <a:off x="2416175" y="2511425"/>
            <a:ext cx="7342188" cy="87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None/>
            </a:pPr>
            <a:r>
              <a:rPr lang="en-US"/>
              <a:t>Thanks!!</a:t>
            </a:r>
            <a:endParaRPr/>
          </a:p>
        </p:txBody>
      </p:sp>
      <p:sp>
        <p:nvSpPr>
          <p:cNvPr id="163" name="Google Shape;163;p7"/>
          <p:cNvSpPr txBox="1"/>
          <p:nvPr>
            <p:ph idx="2" type="body"/>
          </p:nvPr>
        </p:nvSpPr>
        <p:spPr>
          <a:xfrm>
            <a:off x="2455863" y="3398838"/>
            <a:ext cx="730228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Questions?</a:t>
            </a:r>
            <a:endParaRPr/>
          </a:p>
        </p:txBody>
      </p:sp>
      <p:pic>
        <p:nvPicPr>
          <p:cNvPr id="164" name="Google Shape;164;p7" title="IIIT_H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7675" y="0"/>
            <a:ext cx="4994724" cy="1368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IML_Templatev5_08312018">
  <a:themeElements>
    <a:clrScheme name="AIM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EF6C00"/>
      </a:accent1>
      <a:accent2>
        <a:srgbClr val="632423"/>
      </a:accent2>
      <a:accent3>
        <a:srgbClr val="4F6128"/>
      </a:accent3>
      <a:accent4>
        <a:srgbClr val="3F3151"/>
      </a:accent4>
      <a:accent5>
        <a:srgbClr val="205867"/>
      </a:accent5>
      <a:accent6>
        <a:srgbClr val="974806"/>
      </a:accent6>
      <a:hlink>
        <a:srgbClr val="00007F"/>
      </a:hlink>
      <a:folHlink>
        <a:srgbClr val="3F004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2020-03-04T06:49:24Z</dcterms:created>
  <dc:creator>tsuser</dc:creator>
</cp:coreProperties>
</file>